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74" r:id="rId11"/>
    <p:sldId id="275" r:id="rId12"/>
    <p:sldId id="276" r:id="rId13"/>
    <p:sldId id="27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PH" sz="3600" dirty="0"/>
              <a:t>FINANCIAL</a:t>
            </a:r>
            <a:r>
              <a:rPr lang="en-PH" sz="3600" baseline="0" dirty="0"/>
              <a:t> PANEL</a:t>
            </a:r>
            <a:endParaRPr lang="en-PH" sz="3600" dirty="0"/>
          </a:p>
        </c:rich>
      </c:tx>
      <c:layout>
        <c:manualLayout>
          <c:xMode val="edge"/>
          <c:yMode val="edge"/>
          <c:x val="0.34838746719160107"/>
          <c:y val="3.24359267075641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H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0122481955380577"/>
          <c:y val="0.13794596968819919"/>
          <c:w val="0.92386294291338578"/>
          <c:h val="0.80601328916573567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Intake Bill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9.4266158136482939E-2"/>
                  <c:y val="-1.15177954569148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767-48EC-9A90-0F82BF7110A6}"/>
                </c:ext>
              </c:extLst>
            </c:dLbl>
            <c:dLbl>
              <c:idx val="1"/>
              <c:layout>
                <c:manualLayout>
                  <c:x val="0.11304117454068226"/>
                  <c:y val="-4.261936148823251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67-48EC-9A90-0F82BF7110A6}"/>
                </c:ext>
              </c:extLst>
            </c:dLbl>
            <c:numFmt formatCode="[$₱-3409]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"₱"#,##0.00_);[Red]\("₱"#,##0.00\)</c:formatCode>
                <c:ptCount val="4"/>
                <c:pt idx="0">
                  <c:v>63412.42</c:v>
                </c:pt>
                <c:pt idx="1">
                  <c:v>76584.08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67-48EC-9A90-0F82BF7110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Chlorination Bill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7.7157726377952679E-2"/>
                  <c:y val="-2.49410268503514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767-48EC-9A90-0F82BF7110A6}"/>
                </c:ext>
              </c:extLst>
            </c:dLbl>
            <c:dLbl>
              <c:idx val="1"/>
              <c:layout>
                <c:manualLayout>
                  <c:x val="8.3450295275590558E-2"/>
                  <c:y val="-2.7986020877578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767-48EC-9A90-0F82BF7110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"₱"#,##0.00_);[Red]\("₱"#,##0.00\)</c:formatCode>
                <c:ptCount val="4"/>
                <c:pt idx="0">
                  <c:v>1231.42</c:v>
                </c:pt>
                <c:pt idx="1">
                  <c:v>1567.65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767-48EC-9A90-0F82BF7110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79854911"/>
        <c:axId val="1479855391"/>
        <c:axId val="0"/>
      </c:bar3DChart>
      <c:dateAx>
        <c:axId val="1479854911"/>
        <c:scaling>
          <c:orientation val="minMax"/>
        </c:scaling>
        <c:delete val="0"/>
        <c:axPos val="b"/>
        <c:title>
          <c:tx>
            <c:rich>
              <a:bodyPr rot="420000" spcFirstLastPara="1" vertOverflow="ellipsis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600" dirty="0"/>
                  <a:t>Monthly</a:t>
                </a:r>
                <a:r>
                  <a:rPr lang="en-PH" sz="1600" baseline="0" dirty="0"/>
                  <a:t> </a:t>
                </a:r>
                <a:r>
                  <a:rPr lang="en-PH" sz="1600" dirty="0"/>
                  <a:t>Operational</a:t>
                </a:r>
                <a:r>
                  <a:rPr lang="en-PH" sz="1600" baseline="0" dirty="0"/>
                  <a:t> cost comparison</a:t>
                </a:r>
                <a:endParaRPr lang="en-PH" sz="1600" dirty="0"/>
              </a:p>
            </c:rich>
          </c:tx>
          <c:layout>
            <c:manualLayout>
              <c:xMode val="edge"/>
              <c:yMode val="edge"/>
              <c:x val="0.31286630577427815"/>
              <c:y val="0.833965238108200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420000" spcFirstLastPara="1" vertOverflow="ellipsis" wrap="square" anchor="ctr" anchorCtr="1"/>
            <a:lstStyle/>
            <a:p>
              <a:pPr>
                <a:defRPr sz="16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H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2400" dirty="0"/>
                  <a:t>Amount</a:t>
                </a:r>
                <a:r>
                  <a:rPr lang="en-PH" sz="2400" baseline="0" dirty="0"/>
                  <a:t> in peso bill</a:t>
                </a:r>
                <a:endParaRPr lang="en-PH" sz="2400" dirty="0"/>
              </a:p>
            </c:rich>
          </c:tx>
          <c:layout>
            <c:manualLayout>
              <c:xMode val="edge"/>
              <c:yMode val="edge"/>
              <c:x val="4.834498031496063E-2"/>
              <c:y val="0.15388311733763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H"/>
            </a:p>
          </c:txPr>
        </c:title>
        <c:numFmt formatCode="&quot;₱&quot;#,##0.00_);[Red]\(&quot;₱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730971128608847E-4"/>
          <c:y val="0.87997697922297102"/>
          <c:w val="0.28008571194225723"/>
          <c:h val="9.40815011798333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800" dirty="0"/>
              <a:t>OPERATION</a:t>
            </a:r>
            <a:r>
              <a:rPr lang="en-US" sz="1800" baseline="0" dirty="0"/>
              <a:t> PERFORMANCE VISUALIZATION</a:t>
            </a:r>
            <a:endParaRPr lang="en-PH" sz="1800" dirty="0"/>
          </a:p>
        </c:rich>
      </c:tx>
      <c:layout>
        <c:manualLayout>
          <c:xMode val="edge"/>
          <c:yMode val="edge"/>
          <c:x val="0.19138412423429504"/>
          <c:y val="2.54404094085227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H"/>
        </a:p>
      </c:txPr>
    </c:title>
    <c:autoTitleDeleted val="0"/>
    <c:plotArea>
      <c:layout>
        <c:manualLayout>
          <c:layoutTarget val="inner"/>
          <c:xMode val="edge"/>
          <c:yMode val="edge"/>
          <c:x val="0.15837048008334703"/>
          <c:y val="0.18247611558178725"/>
          <c:w val="0.57304419003705043"/>
          <c:h val="0.53389924583867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m³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84B2-484D-A543-2FA4A826FB23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84B2-484D-A543-2FA4A826FB23}"/>
              </c:ext>
            </c:extLst>
          </c:dPt>
          <c:dLbls>
            <c:dLbl>
              <c:idx val="0"/>
              <c:layout>
                <c:manualLayout>
                  <c:x val="-9.2412073036400269E-2"/>
                  <c:y val="-8.19935494103678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B2-484D-A543-2FA4A826FB23}"/>
                </c:ext>
              </c:extLst>
            </c:dLbl>
            <c:dLbl>
              <c:idx val="1"/>
              <c:layout>
                <c:manualLayout>
                  <c:x val="0.10834518907715894"/>
                  <c:y val="-3.0064301450468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B2-484D-A543-2FA4A826FB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00B0F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#,##0.00</c:formatCode>
                <c:ptCount val="4"/>
                <c:pt idx="0">
                  <c:v>8542.2000000000007</c:v>
                </c:pt>
                <c:pt idx="1">
                  <c:v>9813.07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B2-484D-A543-2FA4A826FB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79854911"/>
        <c:axId val="147985539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Specific Energy Consumption (kWh/m³)</c:v>
                </c:pt>
              </c:strCache>
            </c:strRef>
          </c:tx>
          <c:spPr>
            <a:ln w="34925" cap="rnd">
              <a:solidFill>
                <a:srgbClr val="FFFF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FFFF00"/>
              </a:solidFill>
              <a:ln w="9525">
                <a:noFill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9.0818761432324438E-2"/>
                  <c:y val="-1.91318281957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B2-484D-A543-2FA4A826FB23}"/>
                </c:ext>
              </c:extLst>
            </c:dLbl>
            <c:dLbl>
              <c:idx val="1"/>
              <c:layout>
                <c:manualLayout>
                  <c:x val="-0.12605805254789326"/>
                  <c:y val="-5.4662366273578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4B2-484D-A543-2FA4A826FB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FFFF0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</c:v>
                </c:pt>
                <c:pt idx="1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4B2-484D-A543-2FA4A826FB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5925167"/>
        <c:axId val="1745924687"/>
      </c:lineChart>
      <c:dateAx>
        <c:axId val="14798549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400" dirty="0"/>
                  <a:t>April</a:t>
                </a:r>
                <a:r>
                  <a:rPr lang="en-PH" sz="1400" baseline="0" dirty="0"/>
                  <a:t> – may (2026)</a:t>
                </a:r>
                <a:endParaRPr lang="en-PH" sz="1400" dirty="0"/>
              </a:p>
            </c:rich>
          </c:tx>
          <c:layout>
            <c:manualLayout>
              <c:xMode val="edge"/>
              <c:yMode val="edge"/>
              <c:x val="0.34993148279742292"/>
              <c:y val="0.79516863800862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H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600" dirty="0">
                    <a:solidFill>
                      <a:srgbClr val="00B0F0"/>
                    </a:solidFill>
                  </a:rPr>
                  <a:t>Production</a:t>
                </a:r>
                <a:r>
                  <a:rPr lang="en-PH" sz="1600" baseline="0" dirty="0">
                    <a:solidFill>
                      <a:srgbClr val="00B0F0"/>
                    </a:solidFill>
                  </a:rPr>
                  <a:t> (cu. M)</a:t>
                </a:r>
                <a:endParaRPr lang="en-PH" sz="1600" dirty="0">
                  <a:solidFill>
                    <a:srgbClr val="00B0F0"/>
                  </a:solidFill>
                </a:endParaRPr>
              </a:p>
            </c:rich>
          </c:tx>
          <c:layout>
            <c:manualLayout>
              <c:xMode val="edge"/>
              <c:yMode val="edge"/>
              <c:x val="2.0574222554716907E-2"/>
              <c:y val="0.225834911013255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rgbClr val="00B0F0"/>
                  </a:solidFill>
                  <a:latin typeface="+mn-lt"/>
                  <a:ea typeface="+mn-ea"/>
                  <a:cs typeface="+mn-cs"/>
                </a:defRPr>
              </a:pPr>
              <a:endParaRPr lang="en-PH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valAx>
        <c:axId val="17459246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400" dirty="0">
                    <a:solidFill>
                      <a:srgbClr val="FFFF00"/>
                    </a:solidFill>
                  </a:rPr>
                  <a:t>Specific</a:t>
                </a:r>
                <a:r>
                  <a:rPr lang="en-PH" sz="1400" baseline="0" dirty="0">
                    <a:solidFill>
                      <a:srgbClr val="FFFF00"/>
                    </a:solidFill>
                  </a:rPr>
                  <a:t> energy consumption</a:t>
                </a:r>
                <a:r>
                  <a:rPr lang="en-PH" sz="1400" dirty="0">
                    <a:solidFill>
                      <a:srgbClr val="FFFF00"/>
                    </a:solidFill>
                  </a:rPr>
                  <a:t>  </a:t>
                </a:r>
              </a:p>
            </c:rich>
          </c:tx>
          <c:layout>
            <c:manualLayout>
              <c:xMode val="edge"/>
              <c:yMode val="edge"/>
              <c:x val="0.78268789191920329"/>
              <c:y val="0.135793581163178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rgbClr val="FFFF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925167"/>
        <c:crosses val="max"/>
        <c:crossBetween val="between"/>
      </c:valAx>
      <c:dateAx>
        <c:axId val="174592516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74592468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l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"/>
          <c:y val="0.84037750510617915"/>
          <c:w val="0.43527573437189104"/>
          <c:h val="0.148658609204324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37048008334703"/>
          <c:y val="0.18247611558178725"/>
          <c:w val="0.57304419003705043"/>
          <c:h val="0.53389924583867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m³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F15-4FA5-839D-ED9F4A906A49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F15-4FA5-839D-ED9F4A906A49}"/>
              </c:ext>
            </c:extLst>
          </c:dPt>
          <c:dLbls>
            <c:dLbl>
              <c:idx val="0"/>
              <c:layout>
                <c:manualLayout>
                  <c:x val="-9.2412073036400269E-2"/>
                  <c:y val="-8.19935494103678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F15-4FA5-839D-ED9F4A906A49}"/>
                </c:ext>
              </c:extLst>
            </c:dLbl>
            <c:dLbl>
              <c:idx val="1"/>
              <c:layout>
                <c:manualLayout>
                  <c:x val="0.10834518907715894"/>
                  <c:y val="-3.0064301450468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F15-4FA5-839D-ED9F4A906A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00B0F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4-7F15-4FA5-839D-ED9F4A906A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 Energy Consumption (kWh/m³)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solidFill>
                <a:srgbClr val="FFFF00"/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9.0818761432324438E-2"/>
                  <c:y val="-1.91318281957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F15-4FA5-839D-ED9F4A906A49}"/>
                </c:ext>
              </c:extLst>
            </c:dLbl>
            <c:dLbl>
              <c:idx val="1"/>
              <c:layout>
                <c:manualLayout>
                  <c:x val="-0.12605805254789326"/>
                  <c:y val="-5.4662366273578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F15-4FA5-839D-ED9F4A906A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FFFF0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7-7F15-4FA5-839D-ED9F4A906A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Hours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550.5</c:v>
                </c:pt>
                <c:pt idx="1">
                  <c:v>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15-4FA5-839D-ED9F4A906A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79854911"/>
        <c:axId val="1479855391"/>
      </c:barChart>
      <c:dateAx>
        <c:axId val="1479854911"/>
        <c:scaling>
          <c:orientation val="minMax"/>
        </c:scaling>
        <c:delete val="1"/>
        <c:axPos val="b"/>
        <c:numFmt formatCode="mmm\-yy" sourceLinked="1"/>
        <c:majorTickMark val="none"/>
        <c:minorTickMark val="none"/>
        <c:tickLblPos val="nextTo"/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>
                    <a:lumMod val="60000"/>
                    <a:lumOff val="40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72637535126576169"/>
          <c:y val="0.86703364924245696"/>
          <c:w val="0.21779728188120343"/>
          <c:h val="6.07268008755715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191164592748523"/>
          <c:y val="0.18247611558178725"/>
          <c:w val="0.58411331039506686"/>
          <c:h val="0.53389924583867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m³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63C-430B-AC66-A05F095EFCA6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63C-430B-AC66-A05F095EFCA6}"/>
              </c:ext>
            </c:extLst>
          </c:dPt>
          <c:dLbls>
            <c:dLbl>
              <c:idx val="0"/>
              <c:layout>
                <c:manualLayout>
                  <c:x val="-9.2412073036400269E-2"/>
                  <c:y val="-8.19935494103678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3C-430B-AC66-A05F095EFCA6}"/>
                </c:ext>
              </c:extLst>
            </c:dLbl>
            <c:dLbl>
              <c:idx val="1"/>
              <c:layout>
                <c:manualLayout>
                  <c:x val="0.10834518907715894"/>
                  <c:y val="-3.0064301450468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3C-430B-AC66-A05F095EFC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00B0F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4-C63C-430B-AC66-A05F095EF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79854911"/>
        <c:axId val="147985539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Specific Energy Consumption (kWh/m³)</c:v>
                </c:pt>
              </c:strCache>
            </c:strRef>
          </c:tx>
          <c:spPr>
            <a:ln w="34925" cap="rnd">
              <a:solidFill>
                <a:srgbClr val="FFFF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FFFF00"/>
              </a:solidFill>
              <a:ln w="9525">
                <a:noFill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9.0818761432324438E-2"/>
                  <c:y val="-1.91318281957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63C-430B-AC66-A05F095EFCA6}"/>
                </c:ext>
              </c:extLst>
            </c:dLbl>
            <c:dLbl>
              <c:idx val="1"/>
              <c:layout>
                <c:manualLayout>
                  <c:x val="-0.12605805254789326"/>
                  <c:y val="-5.4662366273578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63C-430B-AC66-A05F095EFC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FFFF0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63C-430B-AC66-A05F095EFCA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Trend Line (Operating Hours)</c:v>
                </c:pt>
              </c:strCache>
            </c:strRef>
          </c:tx>
          <c:spPr>
            <a:ln w="34925" cap="rnd">
              <a:solidFill>
                <a:schemeClr val="accent2"/>
              </a:solidFill>
              <a:prstDash val="dash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elete val="1"/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550.5</c:v>
                </c:pt>
                <c:pt idx="1">
                  <c:v>608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63C-430B-AC66-A05F095EF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5925167"/>
        <c:axId val="1745924687"/>
      </c:lineChart>
      <c:dateAx>
        <c:axId val="1479854911"/>
        <c:scaling>
          <c:orientation val="minMax"/>
        </c:scaling>
        <c:delete val="1"/>
        <c:axPos val="b"/>
        <c:numFmt formatCode="mmm\-yy" sourceLinked="1"/>
        <c:majorTickMark val="none"/>
        <c:minorTickMark val="none"/>
        <c:tickLblPos val="nextTo"/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solidFill>
              <a:srgbClr val="FFFF00">
                <a:alpha val="0"/>
              </a:srgb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>
                    <a:lumMod val="60000"/>
                    <a:lumOff val="40000"/>
                    <a:alpha val="0"/>
                  </a:schemeClr>
                </a:solidFill>
                <a:effectLst>
                  <a:outerShdw blurRad="50800" dist="50800" dir="1200000" algn="ctr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valAx>
        <c:axId val="17459246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OPERATING HOURS</a:t>
                </a:r>
              </a:p>
            </c:rich>
          </c:tx>
          <c:layout>
            <c:manualLayout>
              <c:xMode val="edge"/>
              <c:yMode val="edge"/>
              <c:x val="0.82478228849010282"/>
              <c:y val="0.263150714258728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925167"/>
        <c:crosses val="max"/>
        <c:crossBetween val="between"/>
      </c:valAx>
      <c:dateAx>
        <c:axId val="174592516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74592468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53752370065363797"/>
          <c:y val="0.93718571753069435"/>
          <c:w val="0.41286811833789783"/>
          <c:h val="6.06097283965128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800" dirty="0"/>
              <a:t>OPERATION</a:t>
            </a:r>
            <a:r>
              <a:rPr lang="en-US" sz="1800" baseline="0" dirty="0"/>
              <a:t> PERFORMANCE VISUALIZATION</a:t>
            </a:r>
            <a:endParaRPr lang="en-PH" sz="1800" dirty="0"/>
          </a:p>
        </c:rich>
      </c:tx>
      <c:layout>
        <c:manualLayout>
          <c:xMode val="edge"/>
          <c:yMode val="edge"/>
          <c:x val="0.19138412423429504"/>
          <c:y val="2.54404094085227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PH"/>
        </a:p>
      </c:txPr>
    </c:title>
    <c:autoTitleDeleted val="0"/>
    <c:plotArea>
      <c:layout>
        <c:manualLayout>
          <c:layoutTarget val="inner"/>
          <c:xMode val="edge"/>
          <c:yMode val="edge"/>
          <c:x val="0.15837048008334703"/>
          <c:y val="0.18247611558178725"/>
          <c:w val="0.57304419003705043"/>
          <c:h val="0.53389924583867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m³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755-4496-882A-FC2A2DE57C3A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755-4496-882A-FC2A2DE57C3A}"/>
              </c:ext>
            </c:extLst>
          </c:dPt>
          <c:dLbls>
            <c:dLbl>
              <c:idx val="0"/>
              <c:layout>
                <c:manualLayout>
                  <c:x val="-9.2412073036400269E-2"/>
                  <c:y val="-8.19935494103678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755-4496-882A-FC2A2DE57C3A}"/>
                </c:ext>
              </c:extLst>
            </c:dLbl>
            <c:dLbl>
              <c:idx val="1"/>
              <c:layout>
                <c:manualLayout>
                  <c:x val="0.10834518907715894"/>
                  <c:y val="-3.0064301450468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755-4496-882A-FC2A2DE57C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00B0F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#,##0.00</c:formatCode>
                <c:ptCount val="4"/>
                <c:pt idx="0">
                  <c:v>8542.2000000000007</c:v>
                </c:pt>
                <c:pt idx="1">
                  <c:v>9813.07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55-4496-882A-FC2A2DE57C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79854911"/>
        <c:axId val="147985539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Specific Energy Consumption (kWh/m³)</c:v>
                </c:pt>
              </c:strCache>
            </c:strRef>
          </c:tx>
          <c:spPr>
            <a:ln w="34925" cap="rnd">
              <a:solidFill>
                <a:srgbClr val="FFFF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FFFF00"/>
              </a:solidFill>
              <a:ln w="9525">
                <a:noFill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9.0818761432324438E-2"/>
                  <c:y val="-1.91318281957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755-4496-882A-FC2A2DE57C3A}"/>
                </c:ext>
              </c:extLst>
            </c:dLbl>
            <c:dLbl>
              <c:idx val="1"/>
              <c:layout>
                <c:manualLayout>
                  <c:x val="-0.12605805254789326"/>
                  <c:y val="-5.4662366273578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755-4496-882A-FC2A2DE57C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FFFF0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</c:v>
                </c:pt>
                <c:pt idx="1">
                  <c:v>0.78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755-4496-882A-FC2A2DE57C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5925167"/>
        <c:axId val="1745924687"/>
      </c:lineChart>
      <c:dateAx>
        <c:axId val="14798549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400" dirty="0"/>
                  <a:t>April</a:t>
                </a:r>
                <a:r>
                  <a:rPr lang="en-PH" sz="1400" baseline="0" dirty="0"/>
                  <a:t> – may (2026)</a:t>
                </a:r>
                <a:endParaRPr lang="en-PH" sz="1400" dirty="0"/>
              </a:p>
            </c:rich>
          </c:tx>
          <c:layout>
            <c:manualLayout>
              <c:xMode val="edge"/>
              <c:yMode val="edge"/>
              <c:x val="0.34993148279742292"/>
              <c:y val="0.79516863800862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H"/>
            </a:p>
          </c:txPr>
        </c:title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cap="all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600" dirty="0">
                    <a:solidFill>
                      <a:srgbClr val="00B0F0"/>
                    </a:solidFill>
                  </a:rPr>
                  <a:t>Production</a:t>
                </a:r>
                <a:r>
                  <a:rPr lang="en-PH" sz="1600" baseline="0" dirty="0">
                    <a:solidFill>
                      <a:srgbClr val="00B0F0"/>
                    </a:solidFill>
                  </a:rPr>
                  <a:t> (cu. M)</a:t>
                </a:r>
                <a:endParaRPr lang="en-PH" sz="1600" dirty="0">
                  <a:solidFill>
                    <a:srgbClr val="00B0F0"/>
                  </a:solidFill>
                </a:endParaRPr>
              </a:p>
            </c:rich>
          </c:tx>
          <c:layout>
            <c:manualLayout>
              <c:xMode val="edge"/>
              <c:yMode val="edge"/>
              <c:x val="2.0574222554716907E-2"/>
              <c:y val="0.225834911013255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cap="all" baseline="0">
                  <a:solidFill>
                    <a:srgbClr val="00B0F0"/>
                  </a:solidFill>
                  <a:latin typeface="+mn-lt"/>
                  <a:ea typeface="+mn-ea"/>
                  <a:cs typeface="+mn-cs"/>
                </a:defRPr>
              </a:pPr>
              <a:endParaRPr lang="en-PH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valAx>
        <c:axId val="17459246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400" dirty="0">
                    <a:solidFill>
                      <a:srgbClr val="FFFF00"/>
                    </a:solidFill>
                  </a:rPr>
                  <a:t>Specific</a:t>
                </a:r>
                <a:r>
                  <a:rPr lang="en-PH" sz="1400" baseline="0" dirty="0">
                    <a:solidFill>
                      <a:srgbClr val="FFFF00"/>
                    </a:solidFill>
                  </a:rPr>
                  <a:t> energy consumption</a:t>
                </a:r>
                <a:r>
                  <a:rPr lang="en-PH" sz="1400" dirty="0">
                    <a:solidFill>
                      <a:srgbClr val="FFFF00"/>
                    </a:solidFill>
                  </a:rPr>
                  <a:t>  </a:t>
                </a:r>
              </a:p>
            </c:rich>
          </c:tx>
          <c:layout>
            <c:manualLayout>
              <c:xMode val="edge"/>
              <c:yMode val="edge"/>
              <c:x val="0.78268789191920329"/>
              <c:y val="0.135793581163178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rgbClr val="FFFF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925167"/>
        <c:crosses val="max"/>
        <c:crossBetween val="between"/>
      </c:valAx>
      <c:dateAx>
        <c:axId val="174592516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74592468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l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FFFF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3.1439561836481352E-3"/>
          <c:y val="0.84926288648493831"/>
          <c:w val="0.39035929354066773"/>
          <c:h val="0.148658609204324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37048008334703"/>
          <c:y val="0.18247611558178725"/>
          <c:w val="0.57304419003705043"/>
          <c:h val="0.53389924583867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m³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A8F-42A8-A412-DC677A75BE0E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A8F-42A8-A412-DC677A75BE0E}"/>
              </c:ext>
            </c:extLst>
          </c:dPt>
          <c:dLbls>
            <c:dLbl>
              <c:idx val="0"/>
              <c:layout>
                <c:manualLayout>
                  <c:x val="-9.2412073036400269E-2"/>
                  <c:y val="-8.19935494103678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8F-42A8-A412-DC677A75BE0E}"/>
                </c:ext>
              </c:extLst>
            </c:dLbl>
            <c:dLbl>
              <c:idx val="1"/>
              <c:layout>
                <c:manualLayout>
                  <c:x val="0.10834518907715894"/>
                  <c:y val="-3.0064301450468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A8F-42A8-A412-DC677A75BE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00B0F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4-AA8F-42A8-A412-DC677A75BE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 Energy Consumption (kWh/m³)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solidFill>
                <a:srgbClr val="FFFF00"/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9.0818761432324438E-2"/>
                  <c:y val="-1.91318281957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A8F-42A8-A412-DC677A75BE0E}"/>
                </c:ext>
              </c:extLst>
            </c:dLbl>
            <c:dLbl>
              <c:idx val="1"/>
              <c:layout>
                <c:manualLayout>
                  <c:x val="-0.12605805254789326"/>
                  <c:y val="-5.4662366273578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A8F-42A8-A412-DC677A75BE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FFFF0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7-AA8F-42A8-A412-DC677A75BE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Hours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550.5</c:v>
                </c:pt>
                <c:pt idx="1">
                  <c:v>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8F-42A8-A412-DC677A75BE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79854911"/>
        <c:axId val="1479855391"/>
      </c:barChart>
      <c:dateAx>
        <c:axId val="1479854911"/>
        <c:scaling>
          <c:orientation val="minMax"/>
        </c:scaling>
        <c:delete val="1"/>
        <c:axPos val="b"/>
        <c:numFmt formatCode="mmm\-yy" sourceLinked="1"/>
        <c:majorTickMark val="none"/>
        <c:minorTickMark val="none"/>
        <c:tickLblPos val="nextTo"/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>
                    <a:lumMod val="60000"/>
                    <a:lumOff val="40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78127320834084257"/>
          <c:y val="0.8699954430353769"/>
          <c:w val="0.16456298013415535"/>
          <c:h val="6.07268008755715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43256247050543"/>
          <c:y val="0.18247611558178725"/>
          <c:w val="0.58411331039506686"/>
          <c:h val="0.53389924583867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m³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2D1-4503-AD92-D176C72E6B23}"/>
              </c:ext>
            </c:extLst>
          </c:dPt>
          <c:dPt>
            <c:idx val="1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2D1-4503-AD92-D176C72E6B23}"/>
              </c:ext>
            </c:extLst>
          </c:dPt>
          <c:dLbls>
            <c:dLbl>
              <c:idx val="0"/>
              <c:layout>
                <c:manualLayout>
                  <c:x val="-9.2412073036400269E-2"/>
                  <c:y val="-8.199354941036789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D1-4503-AD92-D176C72E6B23}"/>
                </c:ext>
              </c:extLst>
            </c:dLbl>
            <c:dLbl>
              <c:idx val="1"/>
              <c:layout>
                <c:manualLayout>
                  <c:x val="0.10834518907715894"/>
                  <c:y val="-3.00643014504680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D1-4503-AD92-D176C72E6B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0B0F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00B0F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4-52D1-4503-AD92-D176C72E6B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79854911"/>
        <c:axId val="1479855391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Specific Energy Consumption (kWh/m³)</c:v>
                </c:pt>
              </c:strCache>
            </c:strRef>
          </c:tx>
          <c:spPr>
            <a:ln w="34925" cap="rnd">
              <a:solidFill>
                <a:srgbClr val="FFFF00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FFFF00"/>
              </a:solidFill>
              <a:ln w="9525">
                <a:noFill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layout>
                <c:manualLayout>
                  <c:x val="-9.0818761432324438E-2"/>
                  <c:y val="-1.913182819575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D1-4503-AD92-D176C72E6B23}"/>
                </c:ext>
              </c:extLst>
            </c:dLbl>
            <c:dLbl>
              <c:idx val="1"/>
              <c:layout>
                <c:manualLayout>
                  <c:x val="-0.12605805254789326"/>
                  <c:y val="-5.46623662735782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2D1-4503-AD92-D176C72E6B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19050">
                      <a:solidFill>
                        <a:srgbClr val="FFFF00">
                          <a:alpha val="54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2D1-4503-AD92-D176C72E6B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Trend Line (Operating Hours)</c:v>
                </c:pt>
              </c:strCache>
            </c:strRef>
          </c:tx>
          <c:spPr>
            <a:ln w="34925" cap="rnd">
              <a:solidFill>
                <a:schemeClr val="accent2"/>
              </a:solidFill>
              <a:prstDash val="dash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elete val="1"/>
          </c:dLbls>
          <c:cat>
            <c:numRef>
              <c:f>Sheet1!$A$2:$A$5</c:f>
              <c:numCache>
                <c:formatCode>mmm\-yy</c:formatCode>
                <c:ptCount val="4"/>
                <c:pt idx="0">
                  <c:v>46113</c:v>
                </c:pt>
                <c:pt idx="1">
                  <c:v>46143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550.5</c:v>
                </c:pt>
                <c:pt idx="1">
                  <c:v>608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2D1-4503-AD92-D176C72E6B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45925167"/>
        <c:axId val="1745924687"/>
      </c:lineChart>
      <c:dateAx>
        <c:axId val="1479854911"/>
        <c:scaling>
          <c:orientation val="minMax"/>
        </c:scaling>
        <c:delete val="1"/>
        <c:axPos val="b"/>
        <c:numFmt formatCode="mmm\-yy" sourceLinked="1"/>
        <c:majorTickMark val="none"/>
        <c:minorTickMark val="none"/>
        <c:tickLblPos val="nextTo"/>
        <c:crossAx val="1479855391"/>
        <c:crosses val="autoZero"/>
        <c:auto val="1"/>
        <c:lblOffset val="100"/>
        <c:baseTimeUnit val="months"/>
      </c:dateAx>
      <c:valAx>
        <c:axId val="1479855391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solidFill>
              <a:srgbClr val="FFFF00">
                <a:alpha val="0"/>
              </a:srgb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4">
                    <a:lumMod val="60000"/>
                    <a:lumOff val="40000"/>
                    <a:alpha val="0"/>
                  </a:schemeClr>
                </a:solidFill>
                <a:effectLst>
                  <a:outerShdw blurRad="50800" dist="50800" dir="1200000" algn="ctr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9854911"/>
        <c:crosses val="autoZero"/>
        <c:crossBetween val="between"/>
      </c:valAx>
      <c:valAx>
        <c:axId val="174592468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PH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OPERATING HOURS</a:t>
                </a:r>
              </a:p>
            </c:rich>
          </c:tx>
          <c:layout>
            <c:manualLayout>
              <c:xMode val="edge"/>
              <c:yMode val="edge"/>
              <c:x val="0.82478228849010282"/>
              <c:y val="0.2631507142587283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925167"/>
        <c:crosses val="max"/>
        <c:crossBetween val="between"/>
      </c:valAx>
      <c:dateAx>
        <c:axId val="1745925167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74592468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62009126501698364"/>
          <c:y val="0.9312621299448548"/>
          <c:w val="0.32678708656415256"/>
          <c:h val="6.06097283965128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6B97-7EB0-49B0-BD5B-B0C359C66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6C9B46-3D56-1C5F-D3B1-BD6DFD193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B2357-954B-CB8F-772D-83CE5991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7831E-4D11-32EA-367B-CA501A10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D8F91-F62A-C374-4EA1-EAEE3B7C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2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A52CB-4361-E2AC-1197-91825CCF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6461C-AF89-ED66-4731-4BDA8A1EF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2485B-24D3-F281-5087-7633CADD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11A6E-5E57-9935-0183-2F961A7E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C7AAD-B150-66C4-2AB5-6C1F55BA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4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82396-4F9C-9E37-2620-6B43F96F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6F9A0-BD44-4156-7A0E-6BF676EB0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3FB81-CB87-BDA0-B544-EC6A592A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1AB6E-7D37-3909-BD95-79886B19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4EB8C-969D-EEDF-03A4-0883B6ED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50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7149-8709-CAB5-4EA1-7EA91C4C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43325-53B4-4C3C-D344-B34296870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5B250-089C-6C17-07DD-FA8C13128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61464-0D52-0645-159E-360F1F98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D56CE-16E2-FE4A-F9C8-D51F37AA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A3CE6-BCE2-1877-3E5B-EF08CB11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68E6-EC7F-88F1-1E93-1C7CA828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F96D1-CCF3-A886-3329-0860534EB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62511-6BAC-56CD-80BD-0E8A499FC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C54C9-513B-6A3C-D096-665720033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AC050A-7662-5C33-1CDC-C4EACE824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B153E-83DD-8512-EA24-9F7BA989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BF7943-D547-2AB2-40BB-67BFEC192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4554B-F1B4-B402-3DBB-EAD8F3C3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24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0661-5A0D-05AE-48F1-412D0BDF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8CC52B-9FC5-7F7C-874A-C3072E72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6F7D3-3FEA-D416-DD37-966F6E375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8C48A-2214-21B9-D6AB-7B9A10F7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3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1BDAC-4985-C3FF-FB25-14951D43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1FC9B-63A0-57D5-CA5E-A0CF05A1F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3AEB8-BC92-40B9-458B-F231C7AC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4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B97E-938D-7649-4035-1B43E662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481D6-F1A2-74A3-338C-C5A136A7C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F2610-69BF-6FA5-31E6-8B7F9777A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82505-BBFF-C837-657C-E611C317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4AA93-6FFB-3DBE-8B10-916C9AA8A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0D998-1B1B-EB67-26A1-4EA2B5A3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9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835B-0B6D-F34A-97D2-F22F96685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8C728-D74B-71E9-8154-1EB8C3301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B9D63-CD5F-6B5D-3D7A-F33192066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964DB-0767-48B9-773A-5FD5D041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A56A-4BB1-B633-647F-F132A820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B7702-99D1-7204-7DDF-45ECF33A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9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14D5-B923-094F-1340-235E1CAD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27BC8-0E9D-44B0-F297-2666125D2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21B22-B535-5CB4-D0A2-49712740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7EB68-1C2F-0EB0-7903-B5F141A5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65800-13BA-1DE6-9E84-9ABF5AE4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2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5CFB4-27FF-9086-33E4-3FEB87E19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30ABC-B019-BC16-B8BB-CB7FA7078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D4C7B-3194-67D8-3DBC-08ED0AD6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D2ECD-7954-D0FE-3282-BE0D67C4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DF57-B470-6DB4-4210-A61B59C8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5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AB78A-DED0-7518-37C4-FD1C2CEAA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F958C-D30E-C3AB-B7DC-C1CD3A37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83E4-20C3-C7F2-67E6-3D8E261921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D0D47-AF16-439E-8302-787039BD624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82083-D9FB-8D79-FC9B-42A956908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65DD5-8E7E-3C04-1A3C-B29B532DC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6A5B5-A2BE-4103-9B32-9C5FE18B3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6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hart" Target="../charts/chart3.xml"/><Relationship Id="rId7" Type="http://schemas.openxmlformats.org/officeDocument/2006/relationships/image" Target="../media/image1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4.xm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82DB-4253-C460-4278-87C778C28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BARUGO LEVEL III</a:t>
            </a:r>
            <a:br>
              <a:rPr lang="en-US" b="1" dirty="0"/>
            </a:br>
            <a:r>
              <a:rPr lang="en-US" b="1" dirty="0"/>
              <a:t>PERFORMANCE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DBE16-F2E0-D444-2CF6-1A5192A5C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1848313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F4C73-632A-2206-00F4-CEEA8E74F113}"/>
              </a:ext>
            </a:extLst>
          </p:cNvPr>
          <p:cNvSpPr/>
          <p:nvPr/>
        </p:nvSpPr>
        <p:spPr>
          <a:xfrm>
            <a:off x="1066416" y="559837"/>
            <a:ext cx="10058399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/>
              <a:t>PRODUCTION - Monthly</a:t>
            </a:r>
            <a:endParaRPr lang="en-US" sz="44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183F7C-111B-FC7C-B465-37646A82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BC8E980-AACE-238E-3553-15F79E143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095" y="1423722"/>
            <a:ext cx="9877040" cy="503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25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F4C73-632A-2206-00F4-CEEA8E74F113}"/>
              </a:ext>
            </a:extLst>
          </p:cNvPr>
          <p:cNvSpPr/>
          <p:nvPr/>
        </p:nvSpPr>
        <p:spPr>
          <a:xfrm>
            <a:off x="1066416" y="559837"/>
            <a:ext cx="10058399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Billed Volume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183F7C-111B-FC7C-B465-37646A82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FEC7A7D9-738B-3030-4624-82D8544B9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303" y="1424497"/>
            <a:ext cx="9875520" cy="503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54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F4C73-632A-2206-00F4-CEEA8E74F113}"/>
              </a:ext>
            </a:extLst>
          </p:cNvPr>
          <p:cNvSpPr/>
          <p:nvPr/>
        </p:nvSpPr>
        <p:spPr>
          <a:xfrm>
            <a:off x="1066416" y="559837"/>
            <a:ext cx="10058399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PRODUCTION - Daily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8DB5-A122-25F3-2C55-E5258B5B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ACF574E-D48B-C53F-0CCC-298D1CA9B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15" y="1285697"/>
            <a:ext cx="10972800" cy="512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77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8DB5-A122-25F3-2C55-E5258B5B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77540-0F6C-62A5-B691-E46857F5E8CE}"/>
              </a:ext>
            </a:extLst>
          </p:cNvPr>
          <p:cNvSpPr/>
          <p:nvPr/>
        </p:nvSpPr>
        <p:spPr>
          <a:xfrm>
            <a:off x="1066416" y="559837"/>
            <a:ext cx="10058399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POWER CONSUMPTION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CC13BA8-DE63-8FF2-8618-62715823D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55" y="1423722"/>
            <a:ext cx="9875520" cy="503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0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8DB5-A122-25F3-2C55-E5258B5B8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77540-0F6C-62A5-B691-E46857F5E8CE}"/>
              </a:ext>
            </a:extLst>
          </p:cNvPr>
          <p:cNvSpPr/>
          <p:nvPr/>
        </p:nvSpPr>
        <p:spPr>
          <a:xfrm>
            <a:off x="1066416" y="559837"/>
            <a:ext cx="10058399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POWER UNIT USAGE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4CEAC40-E4F8-FE87-CF94-7BF282E73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55" y="1423722"/>
            <a:ext cx="9875520" cy="503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32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77540-0F6C-62A5-B691-E46857F5E8CE}"/>
              </a:ext>
            </a:extLst>
          </p:cNvPr>
          <p:cNvSpPr/>
          <p:nvPr/>
        </p:nvSpPr>
        <p:spPr>
          <a:xfrm>
            <a:off x="1066416" y="559837"/>
            <a:ext cx="10058399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ELECTRIC BILL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F149FBA6-3D8C-BECF-B38D-E7994BAC39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327264"/>
              </p:ext>
            </p:extLst>
          </p:nvPr>
        </p:nvGraphicFramePr>
        <p:xfrm>
          <a:off x="1254375" y="1421358"/>
          <a:ext cx="9682480" cy="4999766"/>
        </p:xfrm>
        <a:graphic>
          <a:graphicData uri="http://schemas.openxmlformats.org/drawingml/2006/table">
            <a:tbl>
              <a:tblPr/>
              <a:tblGrid>
                <a:gridCol w="1255948">
                  <a:extLst>
                    <a:ext uri="{9D8B030D-6E8A-4147-A177-3AD203B41FA5}">
                      <a16:colId xmlns:a16="http://schemas.microsoft.com/office/drawing/2014/main" val="1382532847"/>
                    </a:ext>
                  </a:extLst>
                </a:gridCol>
                <a:gridCol w="2082117">
                  <a:extLst>
                    <a:ext uri="{9D8B030D-6E8A-4147-A177-3AD203B41FA5}">
                      <a16:colId xmlns:a16="http://schemas.microsoft.com/office/drawing/2014/main" val="2965549199"/>
                    </a:ext>
                  </a:extLst>
                </a:gridCol>
                <a:gridCol w="2070983">
                  <a:extLst>
                    <a:ext uri="{9D8B030D-6E8A-4147-A177-3AD203B41FA5}">
                      <a16:colId xmlns:a16="http://schemas.microsoft.com/office/drawing/2014/main" val="3925852185"/>
                    </a:ext>
                  </a:extLst>
                </a:gridCol>
                <a:gridCol w="2160057">
                  <a:extLst>
                    <a:ext uri="{9D8B030D-6E8A-4147-A177-3AD203B41FA5}">
                      <a16:colId xmlns:a16="http://schemas.microsoft.com/office/drawing/2014/main" val="847228628"/>
                    </a:ext>
                  </a:extLst>
                </a:gridCol>
                <a:gridCol w="2113375">
                  <a:extLst>
                    <a:ext uri="{9D8B030D-6E8A-4147-A177-3AD203B41FA5}">
                      <a16:colId xmlns:a16="http://schemas.microsoft.com/office/drawing/2014/main" val="249481203"/>
                    </a:ext>
                  </a:extLst>
                </a:gridCol>
              </a:tblGrid>
              <a:tr h="7925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PH" sz="14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Month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PH" sz="11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Chlorination &amp; Intake House Power Consumption (kWh)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PH" sz="11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LEYECO III based Total Consumption (kWh)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PH" sz="11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Effective Rate per kWh (PHP)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PH" sz="1100" b="1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</a:rPr>
                        <a:t>Electric Bill (PHP)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234856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December 2025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4,832.96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5,777.00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₱11.80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₱68,164.36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451885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January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6,863.55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6,310.00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₱14.09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₱88,899.61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923598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February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5,162.30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4,037.00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₱11.19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₱45,181.15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746673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March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4,414.60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4,338.00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₱13.13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₱56,951.04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447930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April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5,996.70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5,491.00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₱11.77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₱64,643.84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806707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May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7,671.40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7,657.00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₱10.21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2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₱78,151.73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091633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June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1200" b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1200" b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1200" b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1200" b="0" dirty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00703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July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164294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August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 dirty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911450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September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490667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October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555148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November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 dirty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922477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PH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December 2026</a:t>
                      </a: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PH" sz="800" b="1" dirty="0">
                        <a:effectLst/>
                      </a:endParaRPr>
                    </a:p>
                  </a:txBody>
                  <a:tcPr marL="25521" marR="25521" marT="6380" marB="6380"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6F8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58357"/>
                  </a:ext>
                </a:extLst>
              </a:tr>
              <a:tr h="15208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 dirty="0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210123"/>
                  </a:ext>
                </a:extLst>
              </a:tr>
              <a:tr h="22227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 dirty="0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PH" sz="1300" b="0" dirty="0">
                          <a:effectLst/>
                        </a:rPr>
                        <a:t>₱12.03</a:t>
                      </a:r>
                    </a:p>
                  </a:txBody>
                  <a:tcPr marL="9570" marR="9570" marT="6380" marB="638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PH" sz="1300" b="0" dirty="0">
                          <a:effectLst/>
                        </a:rPr>
                        <a:t>₱401,991.73</a:t>
                      </a:r>
                    </a:p>
                  </a:txBody>
                  <a:tcPr marL="9570" marR="9570" marT="6380" marB="6380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198073"/>
                  </a:ext>
                </a:extLst>
              </a:tr>
              <a:tr h="27377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PH" sz="800" b="1">
                        <a:effectLst/>
                      </a:endParaRP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PH" sz="1300" b="0" dirty="0">
                          <a:effectLst/>
                        </a:rPr>
                        <a:t>Average Rate per kWh</a:t>
                      </a: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PH" sz="1300" b="0" dirty="0">
                          <a:effectLst/>
                        </a:rPr>
                        <a:t>Total Billing</a:t>
                      </a:r>
                    </a:p>
                  </a:txBody>
                  <a:tcPr marL="9570" marR="9570" marT="6380" marB="6380" anchor="b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78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85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77540-0F6C-62A5-B691-E46857F5E8CE}"/>
              </a:ext>
            </a:extLst>
          </p:cNvPr>
          <p:cNvSpPr/>
          <p:nvPr/>
        </p:nvSpPr>
        <p:spPr>
          <a:xfrm>
            <a:off x="1066416" y="559837"/>
            <a:ext cx="11035388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Unit Usage – Calcium Hypochlorite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682A4-7ACD-03F8-0578-44CBF22D5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0FFB2CE-0F19-5748-A7B0-003875392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57" y="1423722"/>
            <a:ext cx="9875520" cy="503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53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1" name="Rectangle 309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2" name="Rectangle 309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77540-0F6C-62A5-B691-E46857F5E8CE}"/>
              </a:ext>
            </a:extLst>
          </p:cNvPr>
          <p:cNvSpPr/>
          <p:nvPr/>
        </p:nvSpPr>
        <p:spPr>
          <a:xfrm>
            <a:off x="1066416" y="559837"/>
            <a:ext cx="11035388" cy="7258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/>
              <a:t>Unit Usage – Hydrogen Peroxide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682A4-7ACD-03F8-0578-44CBF22D5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1F99EF9-A2B9-D6E6-343B-F19A4F613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857" y="1423722"/>
            <a:ext cx="9875520" cy="503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91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AB4749-E8E2-5872-26BA-AA912D48A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82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75E8860-B611-2FC5-A108-DB70A2D491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294442"/>
              </p:ext>
            </p:extLst>
          </p:nvPr>
        </p:nvGraphicFramePr>
        <p:xfrm>
          <a:off x="0" y="-1"/>
          <a:ext cx="12192000" cy="5400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CB604FB-E8B9-92BE-9F1B-646D49ED121D}"/>
              </a:ext>
            </a:extLst>
          </p:cNvPr>
          <p:cNvSpPr txBox="1"/>
          <p:nvPr/>
        </p:nvSpPr>
        <p:spPr>
          <a:xfrm>
            <a:off x="1857578" y="5657671"/>
            <a:ext cx="8476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Google Sans"/>
              </a:rPr>
              <a:t>Intake Facility:</a:t>
            </a:r>
            <a:r>
              <a:rPr lang="en-US" altLang="en-US" dirty="0">
                <a:latin typeface="Google Sans"/>
              </a:rPr>
              <a:t> Accounted for </a:t>
            </a:r>
            <a:r>
              <a:rPr lang="en-US" altLang="en-US" b="1" dirty="0">
                <a:latin typeface="Google Sans"/>
              </a:rPr>
              <a:t>98%</a:t>
            </a:r>
            <a:r>
              <a:rPr lang="en-US" altLang="en-US" dirty="0">
                <a:latin typeface="Google Sans"/>
              </a:rPr>
              <a:t> of the cost increase (Spiked by ₱13,171.66).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b="1" dirty="0">
              <a:latin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Google Sans"/>
              </a:rPr>
              <a:t>Chlorination House:</a:t>
            </a:r>
            <a:r>
              <a:rPr lang="en-US" altLang="en-US" dirty="0">
                <a:latin typeface="Google Sans"/>
              </a:rPr>
              <a:t> Remained stable and nominal, increasing by only ₱336.23.</a:t>
            </a:r>
            <a:r>
              <a:rPr lang="en-US" altLang="en-US" sz="1050" dirty="0"/>
              <a:t> </a:t>
            </a:r>
            <a:endParaRPr lang="en-US" altLang="en-US" sz="2800" dirty="0">
              <a:latin typeface="Arial" panose="020B0604020202020204" pitchFamily="34" charset="0"/>
            </a:endParaRPr>
          </a:p>
          <a:p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3212014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29374A-3F42-C56E-43CA-98AF92D20176}"/>
              </a:ext>
            </a:extLst>
          </p:cNvPr>
          <p:cNvGraphicFramePr>
            <a:graphicFrameLocks noGrp="1"/>
          </p:cNvGraphicFramePr>
          <p:nvPr/>
        </p:nvGraphicFramePr>
        <p:xfrm>
          <a:off x="-3" y="0"/>
          <a:ext cx="8154298" cy="1990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051">
                  <a:extLst>
                    <a:ext uri="{9D8B030D-6E8A-4147-A177-3AD203B41FA5}">
                      <a16:colId xmlns:a16="http://schemas.microsoft.com/office/drawing/2014/main" val="836145969"/>
                    </a:ext>
                  </a:extLst>
                </a:gridCol>
                <a:gridCol w="1359051">
                  <a:extLst>
                    <a:ext uri="{9D8B030D-6E8A-4147-A177-3AD203B41FA5}">
                      <a16:colId xmlns:a16="http://schemas.microsoft.com/office/drawing/2014/main" val="1681807151"/>
                    </a:ext>
                  </a:extLst>
                </a:gridCol>
                <a:gridCol w="1439171">
                  <a:extLst>
                    <a:ext uri="{9D8B030D-6E8A-4147-A177-3AD203B41FA5}">
                      <a16:colId xmlns:a16="http://schemas.microsoft.com/office/drawing/2014/main" val="602064271"/>
                    </a:ext>
                  </a:extLst>
                </a:gridCol>
                <a:gridCol w="1278927">
                  <a:extLst>
                    <a:ext uri="{9D8B030D-6E8A-4147-A177-3AD203B41FA5}">
                      <a16:colId xmlns:a16="http://schemas.microsoft.com/office/drawing/2014/main" val="3053570975"/>
                    </a:ext>
                  </a:extLst>
                </a:gridCol>
                <a:gridCol w="1299724">
                  <a:extLst>
                    <a:ext uri="{9D8B030D-6E8A-4147-A177-3AD203B41FA5}">
                      <a16:colId xmlns:a16="http://schemas.microsoft.com/office/drawing/2014/main" val="3730372139"/>
                    </a:ext>
                  </a:extLst>
                </a:gridCol>
                <a:gridCol w="1418374">
                  <a:extLst>
                    <a:ext uri="{9D8B030D-6E8A-4147-A177-3AD203B41FA5}">
                      <a16:colId xmlns:a16="http://schemas.microsoft.com/office/drawing/2014/main" val="4177885277"/>
                    </a:ext>
                  </a:extLst>
                </a:gridCol>
              </a:tblGrid>
              <a:tr h="934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Month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Intake Bill (₱)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Chlorination Bill (₱)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Operating Hours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Production m³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Specific Energy Consumption (kWh/m³)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2251559"/>
                  </a:ext>
                </a:extLst>
              </a:tr>
              <a:tr h="527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April 21, 2026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63,412.42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1,231.42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550.5 hrs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8,542.2 m³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0.64  kWh/m³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19493769"/>
                  </a:ext>
                </a:extLst>
              </a:tr>
              <a:tr h="527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May 21, 2026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76,584.08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1,567.65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608 hrs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9,813.07 m³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  kWh/m³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6065815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C67D435-B4E4-8F03-0EB2-D508A4399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8863360"/>
              </p:ext>
            </p:extLst>
          </p:nvPr>
        </p:nvGraphicFramePr>
        <p:xfrm>
          <a:off x="0" y="2077087"/>
          <a:ext cx="7634177" cy="428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73F71C1-2B8D-70B0-AFD7-DA570C46C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3501471"/>
              </p:ext>
            </p:extLst>
          </p:nvPr>
        </p:nvGraphicFramePr>
        <p:xfrm>
          <a:off x="222408" y="2077086"/>
          <a:ext cx="7634177" cy="428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B86D2F-2BF6-04F8-C721-081503765E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2559723"/>
              </p:ext>
            </p:extLst>
          </p:nvPr>
        </p:nvGraphicFramePr>
        <p:xfrm>
          <a:off x="785059" y="2077086"/>
          <a:ext cx="7229231" cy="428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5F832B-5293-E4E9-C24B-6DF570D5BF12}"/>
              </a:ext>
            </a:extLst>
          </p:cNvPr>
          <p:cNvSpPr txBox="1"/>
          <p:nvPr/>
        </p:nvSpPr>
        <p:spPr>
          <a:xfrm>
            <a:off x="8280246" y="679604"/>
            <a:ext cx="37790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SEC value tells you exactly how many kilowatts of electricity your plant burns to process </a:t>
            </a:r>
            <a:r>
              <a:rPr lang="en-US" b="1" u="none" strike="noStrike" dirty="0">
                <a:effectLst/>
                <a:latin typeface="Google Sans"/>
              </a:rPr>
              <a:t>one cubic meter (m)</a:t>
            </a:r>
            <a:r>
              <a:rPr lang="en-US" dirty="0"/>
              <a:t> of water.</a:t>
            </a:r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4B8045-FF52-2180-9D82-852C7FD35A41}"/>
                  </a:ext>
                </a:extLst>
              </p:cNvPr>
              <p:cNvSpPr txBox="1"/>
              <p:nvPr/>
            </p:nvSpPr>
            <p:spPr>
              <a:xfrm>
                <a:off x="8078993" y="2125482"/>
                <a:ext cx="4079607" cy="4675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𝐼𝑛𝑡𝑎𝑘𝑒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𝑘𝑊h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𝐶h𝑙𝑜𝑟𝑖𝑛𝑎𝑡𝑖𝑜𝑛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𝑘𝑊h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𝑃𝑟𝑜𝑑𝑢𝑐𝑡𝑖𝑜𝑛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𝑉𝑜𝑙𝑢𝑚𝑒</m:t>
                          </m:r>
                        </m:den>
                      </m:f>
                    </m:oMath>
                  </m:oMathPara>
                </a14:m>
                <a:endParaRPr lang="en-PH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4B8045-FF52-2180-9D82-852C7FD35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993" y="2125482"/>
                <a:ext cx="4079607" cy="4675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E07460-E89D-8652-2E58-B203415C240C}"/>
                  </a:ext>
                </a:extLst>
              </p:cNvPr>
              <p:cNvSpPr txBox="1"/>
              <p:nvPr/>
            </p:nvSpPr>
            <p:spPr>
              <a:xfrm>
                <a:off x="7996150" y="3720146"/>
                <a:ext cx="4162450" cy="58599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5,393 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kWh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+98</m:t>
                          </m:r>
                          <m:r>
                            <a:rPr lang="en-US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kWh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8,542.2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0.64</m:t>
                      </m:r>
                      <m:r>
                        <m:rPr>
                          <m:sty m:val="p"/>
                        </m:rPr>
                        <a:rPr lang="en-US" sz="160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kWh</m:t>
                      </m:r>
                      <m:r>
                        <a:rPr lang="en-US" sz="160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160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1600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PH" sz="20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E07460-E89D-8652-2E58-B203415C2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150" y="3720146"/>
                <a:ext cx="4162450" cy="5859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689738-7E74-EBC5-93A6-F6F543C7B2CC}"/>
                  </a:ext>
                </a:extLst>
              </p:cNvPr>
              <p:cNvSpPr txBox="1"/>
              <p:nvPr/>
            </p:nvSpPr>
            <p:spPr>
              <a:xfrm>
                <a:off x="8078993" y="2810734"/>
                <a:ext cx="411300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𝑳𝑬𝒀𝑬𝑪𝑶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𝑹𝑬𝑨𝑫𝑰𝑵𝑮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𝑨𝑷𝑹𝑰𝑳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𝟐𝟏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𝟐𝟎𝟐𝟔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𝐼𝑁𝑇𝐴𝐾𝐸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𝑅𝐸𝐴𝐷𝐼𝑁𝐺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𝟓𝟑𝟗𝟑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𝒌𝑾𝒉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𝐶𝐻𝐿𝑂𝑅𝐼𝑁𝐴𝑇𝐼𝑂𝑁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𝑅𝐸𝐴𝐷𝐼𝑁𝐺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𝟗𝟖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𝒌𝑾𝒉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689738-7E74-EBC5-93A6-F6F543C7B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993" y="2810734"/>
                <a:ext cx="411300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8189B9-D0C2-381A-EBE9-D96FB835D406}"/>
                  </a:ext>
                </a:extLst>
              </p:cNvPr>
              <p:cNvSpPr txBox="1"/>
              <p:nvPr/>
            </p:nvSpPr>
            <p:spPr>
              <a:xfrm>
                <a:off x="8029551" y="4625696"/>
                <a:ext cx="416245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𝑳𝑬𝒀𝑬𝑪𝑶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𝑹𝑬𝑨𝑫𝑰𝑵𝑮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𝑴𝑨𝒀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𝟐𝟏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𝟐𝟎𝟐𝟔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𝐼𝑁𝑇𝐴𝐾𝐸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𝑅𝐸𝐴𝐷𝐼𝑁𝐺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𝟓𝟏𝟏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𝒌𝑾𝒉</m:t>
                      </m:r>
                    </m:oMath>
                  </m:oMathPara>
                </a14:m>
                <a:endParaRPr lang="en-US" sz="1600" b="1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𝐶𝐻𝐿𝑂𝑅𝐼𝑁𝐴𝑇𝐼𝑂𝑁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𝑅𝐸𝐴𝐷𝐼𝑁𝐺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𝟏𝟒𝟔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𝒌𝑾𝒉</m:t>
                      </m:r>
                    </m:oMath>
                  </m:oMathPara>
                </a14:m>
                <a:endParaRPr lang="en-US" sz="16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8189B9-D0C2-381A-EBE9-D96FB835D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51" y="4625696"/>
                <a:ext cx="416245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875D6-7878-2F09-4CD3-7F2310B6DE46}"/>
                  </a:ext>
                </a:extLst>
              </p:cNvPr>
              <p:cNvSpPr txBox="1"/>
              <p:nvPr/>
            </p:nvSpPr>
            <p:spPr>
              <a:xfrm>
                <a:off x="7985990" y="5509812"/>
                <a:ext cx="4172610" cy="58599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7,511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kWh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+146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kWh</m:t>
                          </m:r>
                        </m:num>
                        <m:den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9,813.07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0.78 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kWh</m:t>
                      </m:r>
                      <m:r>
                        <a:rPr lang="en-US" sz="1600" b="0" i="0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16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16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PH" sz="18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4875D6-7878-2F09-4CD3-7F2310B6D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990" y="5509812"/>
                <a:ext cx="4172610" cy="5859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291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3C9E10-933B-3C85-42D5-A0D861048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14798"/>
              </p:ext>
            </p:extLst>
          </p:nvPr>
        </p:nvGraphicFramePr>
        <p:xfrm>
          <a:off x="-3" y="0"/>
          <a:ext cx="8154298" cy="1990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051">
                  <a:extLst>
                    <a:ext uri="{9D8B030D-6E8A-4147-A177-3AD203B41FA5}">
                      <a16:colId xmlns:a16="http://schemas.microsoft.com/office/drawing/2014/main" val="836145969"/>
                    </a:ext>
                  </a:extLst>
                </a:gridCol>
                <a:gridCol w="1359051">
                  <a:extLst>
                    <a:ext uri="{9D8B030D-6E8A-4147-A177-3AD203B41FA5}">
                      <a16:colId xmlns:a16="http://schemas.microsoft.com/office/drawing/2014/main" val="1681807151"/>
                    </a:ext>
                  </a:extLst>
                </a:gridCol>
                <a:gridCol w="1439171">
                  <a:extLst>
                    <a:ext uri="{9D8B030D-6E8A-4147-A177-3AD203B41FA5}">
                      <a16:colId xmlns:a16="http://schemas.microsoft.com/office/drawing/2014/main" val="602064271"/>
                    </a:ext>
                  </a:extLst>
                </a:gridCol>
                <a:gridCol w="1278927">
                  <a:extLst>
                    <a:ext uri="{9D8B030D-6E8A-4147-A177-3AD203B41FA5}">
                      <a16:colId xmlns:a16="http://schemas.microsoft.com/office/drawing/2014/main" val="3053570975"/>
                    </a:ext>
                  </a:extLst>
                </a:gridCol>
                <a:gridCol w="1299724">
                  <a:extLst>
                    <a:ext uri="{9D8B030D-6E8A-4147-A177-3AD203B41FA5}">
                      <a16:colId xmlns:a16="http://schemas.microsoft.com/office/drawing/2014/main" val="3730372139"/>
                    </a:ext>
                  </a:extLst>
                </a:gridCol>
                <a:gridCol w="1418374">
                  <a:extLst>
                    <a:ext uri="{9D8B030D-6E8A-4147-A177-3AD203B41FA5}">
                      <a16:colId xmlns:a16="http://schemas.microsoft.com/office/drawing/2014/main" val="4177885277"/>
                    </a:ext>
                  </a:extLst>
                </a:gridCol>
              </a:tblGrid>
              <a:tr h="9342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Month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Intake Bill (₱)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Chlorination Bill (₱)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Operating Hours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Production m³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Specific Energy Consumption (kWh/m³)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22251559"/>
                  </a:ext>
                </a:extLst>
              </a:tr>
              <a:tr h="527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April 21, 2026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63,412.42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1,231.42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550.5 hrs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8,542.2 m³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0.64  kWh/m³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19493769"/>
                  </a:ext>
                </a:extLst>
              </a:tr>
              <a:tr h="527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May 21, 2026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76,584.08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₱ 1,567.65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608 hrs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9,813.07 m³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  kWh/m³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6065815"/>
                  </a:ext>
                </a:extLst>
              </a:tr>
            </a:tbl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6881B81-17D0-7498-9258-606157530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69307"/>
              </p:ext>
            </p:extLst>
          </p:nvPr>
        </p:nvGraphicFramePr>
        <p:xfrm>
          <a:off x="0" y="2077087"/>
          <a:ext cx="8078993" cy="428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A24D28-79D7-2BAE-7450-6F92D044B0B3}"/>
              </a:ext>
            </a:extLst>
          </p:cNvPr>
          <p:cNvSpPr txBox="1"/>
          <p:nvPr/>
        </p:nvSpPr>
        <p:spPr>
          <a:xfrm>
            <a:off x="7670800" y="1170769"/>
            <a:ext cx="4521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H" b="0" u="none" strike="noStrike" dirty="0">
                <a:effectLst/>
                <a:latin typeface="Google Sans"/>
              </a:rPr>
              <a:t>Water production volume increased by </a:t>
            </a:r>
            <a:r>
              <a:rPr lang="en-PH" b="1" u="none" strike="noStrike" dirty="0">
                <a:effectLst/>
                <a:latin typeface="Google Sans"/>
              </a:rPr>
              <a:t>+14.9%</a:t>
            </a:r>
            <a:r>
              <a:rPr lang="en-PH" b="0" u="none" strike="noStrike" dirty="0">
                <a:effectLst/>
                <a:latin typeface="Google Sans"/>
              </a:rPr>
              <a:t> (</a:t>
            </a:r>
            <a:r>
              <a:rPr lang="en-PH" b="1" u="none" strike="noStrike" dirty="0">
                <a:effectLst/>
                <a:latin typeface="Google Sans"/>
              </a:rPr>
              <a:t>9,813.07 m³</a:t>
            </a:r>
            <a:r>
              <a:rPr lang="en-PH" b="0" u="none" strike="noStrike" dirty="0">
                <a:effectLst/>
                <a:latin typeface="Google Sans"/>
              </a:rPr>
              <a:t>).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H" b="0" u="none" strike="noStrike" dirty="0">
                <a:effectLst/>
                <a:latin typeface="Google Sans"/>
              </a:rPr>
              <a:t>Specific Energy Consumption (SEC) spiked by </a:t>
            </a:r>
            <a:r>
              <a:rPr lang="en-PH" b="1" u="none" strike="noStrike" dirty="0">
                <a:effectLst/>
                <a:latin typeface="Google Sans"/>
              </a:rPr>
              <a:t>+21.4%</a:t>
            </a:r>
            <a:r>
              <a:rPr lang="en-PH" b="0" u="none" strike="noStrike" dirty="0">
                <a:effectLst/>
                <a:latin typeface="Google Sans"/>
              </a:rPr>
              <a:t>, jumping from </a:t>
            </a:r>
            <a:r>
              <a:rPr lang="en-PH" b="1" dirty="0">
                <a:latin typeface="Google Sans"/>
              </a:rPr>
              <a:t>(</a:t>
            </a:r>
            <a:r>
              <a:rPr lang="en-PH" b="1" u="none" strike="noStrike" dirty="0">
                <a:effectLst/>
                <a:latin typeface="Google Sans"/>
              </a:rPr>
              <a:t>0.64 kWh/m³) to (0.78 kWh/m³)</a:t>
            </a:r>
            <a:r>
              <a:rPr lang="en-PH" b="0" u="none" strike="noStrike" dirty="0">
                <a:effectLst/>
                <a:latin typeface="Google Sans"/>
              </a:rPr>
              <a:t>.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PH" dirty="0">
              <a:latin typeface="Google Sans"/>
            </a:endParaRP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PH" b="0" u="none" strike="noStrike" dirty="0">
              <a:effectLst/>
              <a:latin typeface="Google Sans"/>
            </a:endParaRP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PH" b="0" u="none" strike="noStrike" dirty="0">
                <a:effectLst/>
                <a:latin typeface="Google Sans"/>
              </a:rPr>
              <a:t>Average hourly motor load jumped from </a:t>
            </a:r>
            <a:r>
              <a:rPr lang="en-PH" b="1" u="none" strike="noStrike" dirty="0">
                <a:effectLst/>
                <a:latin typeface="Google Sans"/>
              </a:rPr>
              <a:t>(9.80</a:t>
            </a:r>
            <a:r>
              <a:rPr lang="en-PH" b="1" dirty="0">
                <a:latin typeface="Google Sans"/>
              </a:rPr>
              <a:t> </a:t>
            </a:r>
            <a:r>
              <a:rPr lang="en-PH" b="1" u="none" strike="noStrike" dirty="0">
                <a:effectLst/>
                <a:latin typeface="Google Sans"/>
              </a:rPr>
              <a:t>kW</a:t>
            </a:r>
            <a:r>
              <a:rPr lang="en-PH" b="1" dirty="0">
                <a:latin typeface="Google Sans"/>
              </a:rPr>
              <a:t>)</a:t>
            </a:r>
            <a:r>
              <a:rPr lang="en-PH" b="1" u="none" strike="noStrike" dirty="0">
                <a:effectLst/>
                <a:latin typeface="Google Sans"/>
              </a:rPr>
              <a:t> to (12.35 kW) (+26.1%)</a:t>
            </a:r>
            <a:r>
              <a:rPr lang="en-PH" b="0" u="none" strike="noStrike" dirty="0">
                <a:effectLst/>
                <a:latin typeface="Google Sans"/>
              </a:rPr>
              <a:t>, </a:t>
            </a:r>
            <a:r>
              <a:rPr lang="en-PH" b="0" u="none" strike="noStrike" dirty="0">
                <a:solidFill>
                  <a:srgbClr val="FF0000"/>
                </a:solidFill>
                <a:effectLst/>
                <a:latin typeface="Google Sans"/>
              </a:rPr>
              <a:t>proving the intake pumps are drawing significantly more current to operate just to move 1 cubic meter.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5A7CC0B-D280-42E6-1B29-9E6A8E90DD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5816479"/>
              </p:ext>
            </p:extLst>
          </p:nvPr>
        </p:nvGraphicFramePr>
        <p:xfrm>
          <a:off x="298074" y="2077087"/>
          <a:ext cx="8078992" cy="428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A2049AC-0AEB-AD19-6FBF-7B5A20D705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074685"/>
              </p:ext>
            </p:extLst>
          </p:nvPr>
        </p:nvGraphicFramePr>
        <p:xfrm>
          <a:off x="911213" y="2077087"/>
          <a:ext cx="7499259" cy="4287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92833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493</Words>
  <Application>Microsoft Office PowerPoint</Application>
  <PresentationFormat>Widescreen</PresentationFormat>
  <Paragraphs>135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Google Sans</vt:lpstr>
      <vt:lpstr>Roboto</vt:lpstr>
      <vt:lpstr>Office Theme</vt:lpstr>
      <vt:lpstr>BARUGO LEVEL III PERFORMANCE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BARUGO LEVEL III PERFORMANCE REVIEW</dc:title>
  <dc:creator>5292</dc:creator>
  <cp:lastModifiedBy>Je Hydro Isabel</cp:lastModifiedBy>
  <cp:revision>7</cp:revision>
  <dcterms:created xsi:type="dcterms:W3CDTF">2026-05-12T06:31:20Z</dcterms:created>
  <dcterms:modified xsi:type="dcterms:W3CDTF">2026-06-04T01:51:17Z</dcterms:modified>
</cp:coreProperties>
</file>